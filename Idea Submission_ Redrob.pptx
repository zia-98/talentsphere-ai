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 ExtraBold" panose="020B0604020202020204" charset="0"/>
      <p:bold r:id="rId14"/>
    </p:embeddedFont>
    <p:embeddedFont>
      <p:font typeface="Manrope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Team Name : Redrob AI Ranker Elite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Problem Statement : AI-Powered Candidate Ranking Pipeline for 100,000 Profiles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Team Leader Name : Zia </a:t>
            </a:r>
            <a:r>
              <a:rPr dirty="0" err="1"/>
              <a:t>Bh</a:t>
            </a:r>
            <a:r>
              <a:rPr lang="en-GB" dirty="0" err="1"/>
              <a:t>ombal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80500" y="1278512"/>
            <a:ext cx="8175303" cy="305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300" dirty="0">
                <a:latin typeface="Manrope SemiBold" panose="020B0604020202020204" charset="0"/>
              </a:rPr>
              <a:t>Our proposed solution is an end-to-end </a:t>
            </a:r>
            <a:r>
              <a:rPr lang="en-GB" sz="1300" b="1" dirty="0">
                <a:latin typeface="Manrope SemiBold" panose="020B0604020202020204" charset="0"/>
              </a:rPr>
              <a:t>Candidate Search &amp; Ranking System</a:t>
            </a:r>
            <a:r>
              <a:rPr lang="en-GB" sz="1300" dirty="0">
                <a:latin typeface="Manrope SemiBold" panose="020B0604020202020204" charset="0"/>
              </a:rPr>
              <a:t> powered by a hybrid neural-heuristic ranking engine. It leverages </a:t>
            </a:r>
            <a:r>
              <a:rPr lang="en-GB" sz="1300" b="1" dirty="0" err="1">
                <a:latin typeface="Manrope SemiBold" panose="020B0604020202020204" charset="0"/>
              </a:rPr>
              <a:t>SentenceTransformer</a:t>
            </a:r>
            <a:r>
              <a:rPr lang="en-GB" sz="1300" dirty="0">
                <a:latin typeface="Manrope SemiBold" panose="020B0604020202020204" charset="0"/>
              </a:rPr>
              <a:t> semantic vector embeddings indexed using a high-speed </a:t>
            </a:r>
            <a:r>
              <a:rPr lang="en-GB" sz="1300" b="1" dirty="0">
                <a:latin typeface="Manrope SemiBold" panose="020B0604020202020204" charset="0"/>
              </a:rPr>
              <a:t>FAISS</a:t>
            </a:r>
            <a:r>
              <a:rPr lang="en-GB" sz="1300" dirty="0">
                <a:latin typeface="Manrope SemiBold" panose="020B0604020202020204" charset="0"/>
              </a:rPr>
              <a:t> retrieval layer, combined with a </a:t>
            </a:r>
            <a:r>
              <a:rPr lang="en-GB" sz="1300" b="1" dirty="0">
                <a:latin typeface="Manrope SemiBold" panose="020B0604020202020204" charset="0"/>
              </a:rPr>
              <a:t>52-feature weighted scoring engine</a:t>
            </a:r>
            <a:r>
              <a:rPr lang="en-GB" sz="1300" dirty="0">
                <a:latin typeface="Manrope SemiBold" panose="020B0604020202020204" charset="0"/>
              </a:rPr>
              <a:t> that evaluates career trajectory, technical capability, education relevance, platform engagement, and </a:t>
            </a:r>
            <a:r>
              <a:rPr lang="en-GB" sz="1300" dirty="0" err="1">
                <a:latin typeface="Manrope SemiBold" panose="020B0604020202020204" charset="0"/>
              </a:rPr>
              <a:t>Redrob</a:t>
            </a:r>
            <a:r>
              <a:rPr lang="en-GB" sz="1300" dirty="0">
                <a:latin typeface="Manrope SemiBold" panose="020B0604020202020204" charset="0"/>
              </a:rPr>
              <a:t> </a:t>
            </a:r>
            <a:r>
              <a:rPr lang="en-GB" sz="1300" dirty="0" err="1">
                <a:latin typeface="Manrope SemiBold" panose="020B0604020202020204" charset="0"/>
              </a:rPr>
              <a:t>behavioral</a:t>
            </a:r>
            <a:r>
              <a:rPr lang="en-GB" sz="1300" dirty="0">
                <a:latin typeface="Manrope SemiBold" panose="020B0604020202020204" charset="0"/>
              </a:rPr>
              <a:t> signals.</a:t>
            </a:r>
          </a:p>
          <a:p>
            <a:pPr algn="just"/>
            <a:r>
              <a:rPr lang="en-GB" sz="1300" dirty="0">
                <a:latin typeface="Manrope SemiBold" panose="020B0604020202020204" charset="0"/>
              </a:rPr>
              <a:t>Unlike traditional recruitment systems that rely on rigid, error-prone keyword matching, our solution:</a:t>
            </a:r>
          </a:p>
          <a:p>
            <a:pPr marL="171450" indent="-1714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Employs dense vector embeddings</a:t>
            </a:r>
            <a:r>
              <a:rPr lang="en-GB" sz="1300" dirty="0">
                <a:latin typeface="Manrope SemiBold" panose="020B0604020202020204" charset="0"/>
              </a:rPr>
              <a:t> to capture the semantic similarity between job descriptions and candidate profiles, enabling context-aware matching beyond exact keywords. </a:t>
            </a:r>
          </a:p>
          <a:p>
            <a:pPr marL="171450" indent="-1714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Implements career stability, role progression, and educational tier scoring</a:t>
            </a:r>
            <a:r>
              <a:rPr lang="en-GB" sz="1300" dirty="0">
                <a:latin typeface="Manrope SemiBold" panose="020B0604020202020204" charset="0"/>
              </a:rPr>
              <a:t> to assess professional maturity and long-term growth potential. </a:t>
            </a:r>
          </a:p>
          <a:p>
            <a:pPr marL="171450" indent="-1714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Integrates 23 native </a:t>
            </a:r>
            <a:r>
              <a:rPr lang="en-GB" sz="1300" b="1" dirty="0" err="1">
                <a:latin typeface="Manrope SemiBold" panose="020B0604020202020204" charset="0"/>
              </a:rPr>
              <a:t>Redrob</a:t>
            </a:r>
            <a:r>
              <a:rPr lang="en-GB" sz="1300" b="1" dirty="0">
                <a:latin typeface="Manrope SemiBold" panose="020B0604020202020204" charset="0"/>
              </a:rPr>
              <a:t> </a:t>
            </a:r>
            <a:r>
              <a:rPr lang="en-GB" sz="1300" b="1" dirty="0" err="1">
                <a:latin typeface="Manrope SemiBold" panose="020B0604020202020204" charset="0"/>
              </a:rPr>
              <a:t>behavioral</a:t>
            </a:r>
            <a:r>
              <a:rPr lang="en-GB" sz="1300" b="1" dirty="0">
                <a:latin typeface="Manrope SemiBold" panose="020B0604020202020204" charset="0"/>
              </a:rPr>
              <a:t> signals</a:t>
            </a:r>
            <a:r>
              <a:rPr lang="en-GB" sz="1300" dirty="0">
                <a:latin typeface="Manrope SemiBold" panose="020B0604020202020204" charset="0"/>
              </a:rPr>
              <a:t> and platform activity metrics to prioritize highly engaged and responsive candidates. </a:t>
            </a:r>
          </a:p>
          <a:p>
            <a:pPr marL="171450" indent="-1714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Features an explainability engine</a:t>
            </a:r>
            <a:r>
              <a:rPr lang="en-GB" sz="1300" dirty="0">
                <a:latin typeface="Manrope SemiBold" panose="020B0604020202020204" charset="0"/>
              </a:rPr>
              <a:t> that generates human-readable reasoning for every shortlisted candidate, ensuring transparency and recruiter confidence in the ranking process.</a:t>
            </a:r>
          </a:p>
          <a:p>
            <a:pPr marL="141922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</a:pPr>
            <a:endParaRPr lang="en-GB" sz="1300" dirty="0">
              <a:latin typeface="Manrope SemiBold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Evaluation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87900" y="1278500"/>
            <a:ext cx="8175600" cy="3502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300" dirty="0">
                <a:latin typeface="Manrope SemiBold" panose="020B0604020202020204" charset="0"/>
              </a:rPr>
              <a:t>Our system evaluates candidate fit across the following signal dimensions: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Required and Preferred Skills:</a:t>
            </a:r>
            <a:r>
              <a:rPr lang="en-GB" sz="1300" dirty="0">
                <a:latin typeface="Manrope SemiBold" panose="020B0604020202020204" charset="0"/>
              </a:rPr>
              <a:t> Extracted using lexical hints and contextual rules.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Experience and Seniority:</a:t>
            </a:r>
            <a:r>
              <a:rPr lang="en-GB" sz="1300" dirty="0">
                <a:latin typeface="Manrope SemiBold" panose="020B0604020202020204" charset="0"/>
              </a:rPr>
              <a:t> Years of experience are parsed using regular expressions, while seniority is classified based on experience duration.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Professional Domain &amp; Leadership:</a:t>
            </a:r>
            <a:r>
              <a:rPr lang="en-GB" sz="1300" dirty="0">
                <a:latin typeface="Manrope SemiBold" panose="020B0604020202020204" charset="0"/>
              </a:rPr>
              <a:t> Identifies domain expertise, leadership context, and role-specific requirements.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Semantic Alignment (FAISS Search Score):</a:t>
            </a:r>
            <a:r>
              <a:rPr lang="en-GB" sz="1300" dirty="0">
                <a:latin typeface="Manrope SemiBold" panose="020B0604020202020204" charset="0"/>
              </a:rPr>
              <a:t> Measures semantic similarity between candidate profile summaries and the job description (JD).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Career Progression:</a:t>
            </a:r>
            <a:r>
              <a:rPr lang="en-GB" sz="1300" dirty="0">
                <a:latin typeface="Manrope SemiBold" panose="020B0604020202020204" charset="0"/>
              </a:rPr>
              <a:t> Evaluates career stability (tenure/stability index) and the rank/tier of previous organizations.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Technical Depth:</a:t>
            </a:r>
            <a:r>
              <a:rPr lang="en-GB" sz="1300" dirty="0">
                <a:latin typeface="Manrope SemiBold" panose="020B0604020202020204" charset="0"/>
              </a:rPr>
              <a:t> Assesses skill rarity, total skill count, GitHub repository portfolio quality, and project recency.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Education Rank:</a:t>
            </a:r>
            <a:r>
              <a:rPr lang="en-GB" sz="1300" dirty="0">
                <a:latin typeface="Manrope SemiBold" panose="020B0604020202020204" charset="0"/>
              </a:rPr>
              <a:t> Considers degree level, institution ranking tier, and the relevance of the academic field.</a:t>
            </a:r>
          </a:p>
          <a:p>
            <a:pPr marL="285750" indent="-285750" algn="just">
              <a:buClr>
                <a:srgbClr val="7D45E0"/>
              </a:buClr>
              <a:buFont typeface="Arial" panose="020B0604020202020204" pitchFamily="34" charset="0"/>
              <a:buChar char="•"/>
            </a:pPr>
            <a:r>
              <a:rPr lang="en-GB" sz="1300" b="1" dirty="0">
                <a:latin typeface="Manrope SemiBold" panose="020B0604020202020204" charset="0"/>
              </a:rPr>
              <a:t>Engagement Patterns:</a:t>
            </a:r>
            <a:r>
              <a:rPr lang="en-GB" sz="1300" dirty="0">
                <a:latin typeface="Manrope SemiBold" panose="020B0604020202020204" charset="0"/>
              </a:rPr>
              <a:t> </a:t>
            </a:r>
            <a:r>
              <a:rPr lang="en-GB" sz="1300" dirty="0" err="1">
                <a:latin typeface="Manrope SemiBold" panose="020B0604020202020204" charset="0"/>
              </a:rPr>
              <a:t>Analyzes</a:t>
            </a:r>
            <a:r>
              <a:rPr lang="en-GB" sz="1300" dirty="0">
                <a:latin typeface="Manrope SemiBold" panose="020B0604020202020204" charset="0"/>
              </a:rPr>
              <a:t> response velocity, profile consistency, network indicators, and </a:t>
            </a:r>
            <a:r>
              <a:rPr lang="en-GB" sz="1300" dirty="0" err="1">
                <a:latin typeface="Manrope SemiBold" panose="020B0604020202020204" charset="0"/>
              </a:rPr>
              <a:t>behavioral</a:t>
            </a:r>
            <a:r>
              <a:rPr lang="en-GB" sz="1300" dirty="0">
                <a:latin typeface="Manrope SemiBold" panose="020B0604020202020204" charset="0"/>
              </a:rPr>
              <a:t>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80500" y="1278500"/>
            <a:ext cx="8415527" cy="327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300" b="1" dirty="0">
                <a:latin typeface="Manrope SemiBold" panose="020B0604020202020204" charset="0"/>
              </a:rPr>
              <a:t>Hybrid Retrieval &amp; Ranking Pipeline</a:t>
            </a:r>
          </a:p>
          <a:p>
            <a:pPr algn="just"/>
            <a:r>
              <a:rPr lang="en-IN" sz="1300" dirty="0">
                <a:latin typeface="Manrope SemiBold" panose="020B0604020202020204" charset="0"/>
              </a:rPr>
              <a:t>We implement a hybrid retrieval-ranking pipeline using </a:t>
            </a:r>
            <a:r>
              <a:rPr lang="en-IN" sz="1300" b="1" dirty="0">
                <a:latin typeface="Manrope SemiBold" panose="020B0604020202020204" charset="0"/>
              </a:rPr>
              <a:t>sentence-transformers/all-MiniLM-L6-v2</a:t>
            </a:r>
            <a:r>
              <a:rPr lang="en-IN" sz="1300" dirty="0">
                <a:latin typeface="Manrope SemiBold" panose="020B0604020202020204" charset="0"/>
              </a:rPr>
              <a:t> (384-dimensional dense vectors). Multiple signals are combined into a final score (</a:t>
            </a:r>
            <a:r>
              <a:rPr lang="en-IN" b="1" dirty="0">
                <a:latin typeface="Manrope SemiBold" panose="020B0604020202020204" charset="0"/>
              </a:rPr>
              <a:t>0.0 to 1.0</a:t>
            </a:r>
            <a:r>
              <a:rPr lang="en-IN" sz="1300" dirty="0">
                <a:latin typeface="Manrope SemiBold" panose="020B0604020202020204" charset="0"/>
              </a:rPr>
              <a:t>) using a weighted linear ensemble.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Semantic Retrieval:</a:t>
            </a:r>
            <a:r>
              <a:rPr lang="en-IN" sz="1300" dirty="0">
                <a:latin typeface="Manrope SemiBold" panose="020B0604020202020204" charset="0"/>
              </a:rPr>
              <a:t> Query the Job Description against a </a:t>
            </a:r>
            <a:r>
              <a:rPr lang="en-IN" sz="1300" b="1" dirty="0">
                <a:latin typeface="Manrope SemiBold" panose="020B0604020202020204" charset="0"/>
              </a:rPr>
              <a:t>100,000-candidate FAISS index</a:t>
            </a:r>
            <a:r>
              <a:rPr lang="en-IN" sz="1300" dirty="0">
                <a:latin typeface="Manrope SemiBold" panose="020B0604020202020204" charset="0"/>
              </a:rPr>
              <a:t> to retrieve the top </a:t>
            </a:r>
            <a:r>
              <a:rPr lang="en-IN" sz="1300" b="1" dirty="0">
                <a:latin typeface="Manrope SemiBold" panose="020B0604020202020204" charset="0"/>
              </a:rPr>
              <a:t>K</a:t>
            </a:r>
            <a:r>
              <a:rPr lang="en-IN" sz="1300" dirty="0">
                <a:latin typeface="Manrope SemiBold" panose="020B0604020202020204" charset="0"/>
              </a:rPr>
              <a:t> (e.g., 1,000) candidates.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Feature Engineering:</a:t>
            </a:r>
            <a:r>
              <a:rPr lang="en-IN" sz="1300" dirty="0">
                <a:latin typeface="Manrope SemiBold" panose="020B0604020202020204" charset="0"/>
              </a:rPr>
              <a:t> Compute </a:t>
            </a:r>
            <a:r>
              <a:rPr lang="en-IN" sz="1300" b="1" dirty="0">
                <a:latin typeface="Manrope SemiBold" panose="020B0604020202020204" charset="0"/>
              </a:rPr>
              <a:t>52 normalized features</a:t>
            </a:r>
            <a:r>
              <a:rPr lang="en-IN" sz="1300" dirty="0">
                <a:latin typeface="Manrope SemiBold" panose="020B0604020202020204" charset="0"/>
              </a:rPr>
              <a:t> for the retrieved candidates.</a:t>
            </a:r>
          </a:p>
          <a:p>
            <a:pPr algn="just"/>
            <a:r>
              <a:rPr lang="en-IN" sz="1300" b="1">
                <a:latin typeface="Manrope SemiBold" panose="020B0604020202020204" charset="0"/>
              </a:rPr>
              <a:t>Multi-Factor </a:t>
            </a:r>
            <a:r>
              <a:rPr lang="en-IN" sz="1300" b="1" dirty="0">
                <a:latin typeface="Manrope SemiBold" panose="020B0604020202020204" charset="0"/>
              </a:rPr>
              <a:t>Scoring:</a:t>
            </a:r>
            <a:r>
              <a:rPr lang="en-IN" sz="1300" dirty="0">
                <a:latin typeface="Manrope SemiBold" panose="020B0604020202020204" charset="0"/>
              </a:rPr>
              <a:t> Combine semantic match, career progression, technical capability, and </a:t>
            </a:r>
            <a:r>
              <a:rPr lang="en-IN" sz="1300" dirty="0" err="1">
                <a:latin typeface="Manrope SemiBold" panose="020B0604020202020204" charset="0"/>
              </a:rPr>
              <a:t>behavioral</a:t>
            </a:r>
            <a:r>
              <a:rPr lang="en-IN" sz="1300" dirty="0">
                <a:latin typeface="Manrope SemiBold" panose="020B0604020202020204" charset="0"/>
              </a:rPr>
              <a:t> signals into a weighted score.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Ranking:</a:t>
            </a:r>
            <a:r>
              <a:rPr lang="en-IN" sz="1300" dirty="0">
                <a:latin typeface="Manrope SemiBold" panose="020B0604020202020204" charset="0"/>
              </a:rPr>
              <a:t> Sort candidates and return the final </a:t>
            </a:r>
            <a:r>
              <a:rPr lang="en-IN" sz="1300" b="1" dirty="0">
                <a:latin typeface="Manrope SemiBold" panose="020B0604020202020204" charset="0"/>
              </a:rPr>
              <a:t>Top 100</a:t>
            </a:r>
            <a:r>
              <a:rPr lang="en-IN" sz="1300" dirty="0">
                <a:latin typeface="Manrope SemiBold" panose="020B0604020202020204" charset="0"/>
              </a:rPr>
              <a:t> shortlist.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Score Composition:</a:t>
            </a:r>
            <a:endParaRPr lang="en-IN" sz="1300" dirty="0">
              <a:latin typeface="Manrope SemiBold" panose="020B0604020202020204" charset="0"/>
            </a:endParaRP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Career Score (30%):</a:t>
            </a:r>
            <a:r>
              <a:rPr lang="en-IN" sz="1300" dirty="0">
                <a:latin typeface="Manrope SemiBold" panose="020B0604020202020204" charset="0"/>
              </a:rPr>
              <a:t> Tenure, company tier, title progression.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Semantic Match (25%):</a:t>
            </a:r>
            <a:r>
              <a:rPr lang="en-IN" sz="1300" dirty="0">
                <a:latin typeface="Manrope SemiBold" panose="020B0604020202020204" charset="0"/>
              </a:rPr>
              <a:t> FAISS cosine similarity.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Technical Capability (25%):</a:t>
            </a:r>
            <a:r>
              <a:rPr lang="en-IN" sz="1300" dirty="0">
                <a:latin typeface="Manrope SemiBold" panose="020B0604020202020204" charset="0"/>
              </a:rPr>
              <a:t> GitHub metrics, skill volume, technical depth.</a:t>
            </a:r>
          </a:p>
          <a:p>
            <a:pPr algn="just"/>
            <a:r>
              <a:rPr lang="en-IN" sz="1300" b="1" dirty="0">
                <a:latin typeface="Manrope SemiBold" panose="020B0604020202020204" charset="0"/>
              </a:rPr>
              <a:t>Engagement &amp; Signals (20%):</a:t>
            </a:r>
            <a:r>
              <a:rPr lang="en-IN" sz="1300" dirty="0">
                <a:latin typeface="Manrope SemiBold" panose="020B0604020202020204" charset="0"/>
              </a:rPr>
              <a:t> </a:t>
            </a:r>
            <a:r>
              <a:rPr lang="en-IN" sz="1300" dirty="0" err="1">
                <a:latin typeface="Manrope SemiBold" panose="020B0604020202020204" charset="0"/>
              </a:rPr>
              <a:t>Redrob</a:t>
            </a:r>
            <a:r>
              <a:rPr lang="en-IN" sz="1300" dirty="0">
                <a:latin typeface="Manrope SemiBold" panose="020B0604020202020204" charset="0"/>
              </a:rPr>
              <a:t> </a:t>
            </a:r>
            <a:r>
              <a:rPr lang="en-IN" sz="1300" dirty="0" err="1">
                <a:latin typeface="Manrope SemiBold" panose="020B0604020202020204" charset="0"/>
              </a:rPr>
              <a:t>behavioral</a:t>
            </a:r>
            <a:r>
              <a:rPr lang="en-IN" sz="1300" dirty="0">
                <a:latin typeface="Manrope SemiBold" panose="020B0604020202020204" charset="0"/>
              </a:rPr>
              <a:t> signals and response velocity.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0500" y="1278500"/>
            <a:ext cx="8175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For every ranked candidate, our system generates a structured, natural-language explanation outlining their title, tenure, matching skills, and key scores (e.g., semantic match, experience fit, and </a:t>
            </a:r>
            <a:r>
              <a:rPr lang="en-GB" sz="1300" dirty="0" err="1">
                <a:latin typeface="Manrope SemiBold" panose="020B0604020202020204" charset="0"/>
                <a:cs typeface="Arial" panose="020B0604020202020204" pitchFamily="34" charset="0"/>
              </a:rPr>
              <a:t>behavioral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 fit) to provide transparent justification to recruiters.</a:t>
            </a:r>
          </a:p>
          <a:p>
            <a:pPr algn="just"/>
            <a:r>
              <a:rPr lang="en-GB" sz="1300" b="1" dirty="0">
                <a:latin typeface="Manrope SemiBold" panose="020B0604020202020204" charset="0"/>
                <a:cs typeface="Arial" panose="020B0604020202020204" pitchFamily="34" charset="0"/>
              </a:rPr>
              <a:t>Grounding: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 Explanations are deterministic and template-based, using only verified candidate attributes.</a:t>
            </a:r>
          </a:p>
          <a:p>
            <a:pPr algn="just"/>
            <a:r>
              <a:rPr lang="en-GB" sz="1300" b="1" dirty="0">
                <a:latin typeface="Manrope SemiBold" panose="020B0604020202020204" charset="0"/>
                <a:cs typeface="Arial" panose="020B0604020202020204" pitchFamily="34" charset="0"/>
              </a:rPr>
              <a:t>Validation: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 Detects profile anomalies (e.g., salary max &lt; min, activity date before signup, missing dates).</a:t>
            </a:r>
          </a:p>
          <a:p>
            <a:pPr algn="just"/>
            <a:r>
              <a:rPr lang="en-GB" sz="1300" b="1" dirty="0">
                <a:latin typeface="Manrope SemiBold" panose="020B0604020202020204" charset="0"/>
                <a:cs typeface="Arial" panose="020B0604020202020204" pitchFamily="34" charset="0"/>
              </a:rPr>
              <a:t>Traceability: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 Every explanation maps directly to computed features from the candidate record.</a:t>
            </a:r>
          </a:p>
          <a:p>
            <a:pPr algn="just"/>
            <a:r>
              <a:rPr lang="en-GB" sz="1300" b="1" dirty="0">
                <a:latin typeface="Manrope SemiBold" panose="020B0604020202020204" charset="0"/>
                <a:cs typeface="Arial" panose="020B0604020202020204" pitchFamily="34" charset="0"/>
              </a:rPr>
              <a:t>Quality Flags: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 Appends warnings (e.g., </a:t>
            </a:r>
            <a:r>
              <a:rPr lang="en-GB" sz="1300" dirty="0" err="1">
                <a:latin typeface="Manrope SemiBold" panose="020B0604020202020204" charset="0"/>
                <a:cs typeface="Arial" panose="020B0604020202020204" pitchFamily="34" charset="0"/>
              </a:rPr>
              <a:t>temporal_inconsistency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, </a:t>
            </a:r>
            <a:r>
              <a:rPr lang="en-GB" sz="1300" dirty="0" err="1">
                <a:latin typeface="Manrope SemiBold" panose="020B0604020202020204" charset="0"/>
                <a:cs typeface="Arial" panose="020B0604020202020204" pitchFamily="34" charset="0"/>
              </a:rPr>
              <a:t>salary_anomaly</a:t>
            </a:r>
            <a:r>
              <a:rPr lang="en-GB" sz="1300" dirty="0">
                <a:latin typeface="Manrope SemiBold" panose="020B0604020202020204" charset="0"/>
                <a:cs typeface="Arial" panose="020B0604020202020204" pitchFamily="34" charset="0"/>
              </a:rPr>
              <a:t>) and applies scoring penalties for low-quality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1922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Our workflow operates in 8 sequential stages:</a:t>
            </a:r>
            <a:endParaRPr lang="en-GB" sz="1300" dirty="0">
              <a:solidFill>
                <a:srgbClr val="202729"/>
              </a:solidFill>
              <a:latin typeface="Manrope SemiBold" panose="020B0604020202020204" charset="0"/>
              <a:sym typeface="Manrope SemiBold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1: Build technical skill data dictionary.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2: Load and parse the Job Description.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3: Validate and load the 100k candidate embeddings cache.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4: Encode the Job Description using the </a:t>
            </a:r>
            <a:r>
              <a:rPr sz="1300" dirty="0" err="1">
                <a:latin typeface="Manrope SemiBold" panose="020B0604020202020204" charset="0"/>
              </a:rPr>
              <a:t>SentenceTransformer</a:t>
            </a:r>
            <a:r>
              <a:rPr sz="1300" dirty="0">
                <a:latin typeface="Manrope SemiBold" panose="020B0604020202020204" charset="0"/>
              </a:rPr>
              <a:t> model.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5: Load the pre-built candidate FAISS index file.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6: Perform semantic search against the FAISS index to retrieve the top 1000 candidates.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7: Stream candidates from the database and score/rank them dynamically.</a:t>
            </a:r>
            <a:endParaRPr lang="en-GB" sz="1300" dirty="0">
              <a:latin typeface="Manrope SemiBold" panose="020B0604020202020204" charset="0"/>
            </a:endParaRPr>
          </a:p>
          <a:p>
            <a:pPr marL="427672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Stage 8: Write the top 100 shortlisted candidates and reasoning to submission.csv.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38075E-9381-223F-B76D-7A81B47348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500" y="1189810"/>
            <a:ext cx="8175600" cy="3762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87900" y="1278500"/>
            <a:ext cx="8175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300" b="1" dirty="0">
                <a:latin typeface="Manrope SemiBold" panose="020B0604020202020204" charset="0"/>
              </a:rPr>
              <a:t>Shortlist Quality:</a:t>
            </a:r>
            <a:r>
              <a:rPr lang="en-GB" sz="1300" dirty="0">
                <a:latin typeface="Manrope SemiBold" panose="020B0604020202020204" charset="0"/>
              </a:rPr>
              <a:t> Top recommendations include stable, senior, and technically strong candidates from tier-1 companies (e.g., Yellow.ai, </a:t>
            </a:r>
            <a:r>
              <a:rPr lang="en-GB" sz="1300" dirty="0" err="1">
                <a:latin typeface="Manrope SemiBold" panose="020B0604020202020204" charset="0"/>
              </a:rPr>
              <a:t>Meesho</a:t>
            </a:r>
            <a:r>
              <a:rPr lang="en-GB" sz="1300" dirty="0">
                <a:latin typeface="Manrope SemiBold" panose="020B0604020202020204" charset="0"/>
              </a:rPr>
              <a:t>, Sarvam AI, </a:t>
            </a:r>
            <a:r>
              <a:rPr lang="en-GB" sz="1300" dirty="0" err="1">
                <a:latin typeface="Manrope SemiBold" panose="020B0604020202020204" charset="0"/>
              </a:rPr>
              <a:t>Razorpay</a:t>
            </a:r>
            <a:r>
              <a:rPr lang="en-GB" sz="1300" dirty="0">
                <a:latin typeface="Manrope SemiBold" panose="020B0604020202020204" charset="0"/>
              </a:rPr>
              <a:t>).</a:t>
            </a:r>
          </a:p>
          <a:p>
            <a:r>
              <a:rPr lang="en-GB" sz="1300" b="1" dirty="0">
                <a:latin typeface="Manrope SemiBold" panose="020B0604020202020204" charset="0"/>
              </a:rPr>
              <a:t>Rapid Search:</a:t>
            </a:r>
            <a:r>
              <a:rPr lang="en-GB" sz="1300" dirty="0">
                <a:latin typeface="Manrope SemiBold" panose="020B0604020202020204" charset="0"/>
              </a:rPr>
              <a:t> Search, evaluation, and ranking across </a:t>
            </a:r>
            <a:r>
              <a:rPr lang="en-GB" sz="1300" b="1" dirty="0">
                <a:latin typeface="Manrope SemiBold" panose="020B0604020202020204" charset="0"/>
              </a:rPr>
              <a:t>100,000 candidates</a:t>
            </a:r>
            <a:r>
              <a:rPr lang="en-GB" sz="1300" dirty="0">
                <a:latin typeface="Manrope SemiBold" panose="020B0604020202020204" charset="0"/>
              </a:rPr>
              <a:t> complete in </a:t>
            </a:r>
            <a:r>
              <a:rPr lang="en-GB" sz="1300" b="1" dirty="0">
                <a:latin typeface="Manrope SemiBold" panose="020B0604020202020204" charset="0"/>
              </a:rPr>
              <a:t>under 3 seconds</a:t>
            </a:r>
            <a:r>
              <a:rPr lang="en-GB" sz="1300" dirty="0">
                <a:latin typeface="Manrope SemiBold" panose="020B0604020202020204" charset="0"/>
              </a:rPr>
              <a:t> using a warm FAISS index.</a:t>
            </a:r>
          </a:p>
          <a:p>
            <a:r>
              <a:rPr lang="en-GB" sz="1300" b="1" dirty="0">
                <a:latin typeface="Manrope SemiBold" panose="020B0604020202020204" charset="0"/>
              </a:rPr>
              <a:t>Signal Alignment:</a:t>
            </a:r>
            <a:r>
              <a:rPr lang="en-GB" sz="1300" dirty="0">
                <a:latin typeface="Manrope SemiBold" panose="020B0604020202020204" charset="0"/>
              </a:rPr>
              <a:t> Recommended candidates closely match the required skills and seniority.</a:t>
            </a:r>
          </a:p>
          <a:p>
            <a:r>
              <a:rPr lang="en-GB" sz="1300" b="1" dirty="0">
                <a:latin typeface="Manrope SemiBold" panose="020B0604020202020204" charset="0"/>
              </a:rPr>
              <a:t>Memory Efficiency:</a:t>
            </a:r>
            <a:r>
              <a:rPr lang="en-GB" sz="1300" dirty="0">
                <a:latin typeface="Manrope SemiBold" panose="020B0604020202020204" charset="0"/>
              </a:rPr>
              <a:t> Streams candidate data from </a:t>
            </a:r>
            <a:r>
              <a:rPr lang="en-GB" sz="1300" b="1" dirty="0">
                <a:latin typeface="Manrope SemiBold" panose="020B0604020202020204" charset="0"/>
              </a:rPr>
              <a:t>JSONL</a:t>
            </a:r>
            <a:r>
              <a:rPr lang="en-GB" sz="1300" dirty="0">
                <a:latin typeface="Manrope SemiBold" panose="020B0604020202020204" charset="0"/>
              </a:rPr>
              <a:t> instead of loading all records into RAM, keeping memory usage below </a:t>
            </a:r>
            <a:r>
              <a:rPr lang="en-GB" sz="1300" b="1" dirty="0">
                <a:latin typeface="Manrope SemiBold" panose="020B0604020202020204" charset="0"/>
              </a:rPr>
              <a:t>500 MB</a:t>
            </a:r>
            <a:r>
              <a:rPr lang="en-GB" sz="1300" dirty="0">
                <a:latin typeface="Manrope SemiBold" panose="020B0604020202020204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87900" y="1278500"/>
            <a:ext cx="8175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300" b="1" dirty="0"/>
              <a:t>Python 3.13</a:t>
            </a:r>
            <a:r>
              <a:rPr lang="en-IN" sz="1300" dirty="0"/>
              <a:t>: Selected as the core programming language for processing and machine learning.</a:t>
            </a:r>
          </a:p>
          <a:p>
            <a:pPr algn="just"/>
            <a:r>
              <a:rPr lang="en-IN" sz="1300" b="1" dirty="0" err="1"/>
              <a:t>FastAPI</a:t>
            </a:r>
            <a:r>
              <a:rPr lang="en-IN" sz="1300" b="1" dirty="0"/>
              <a:t> &amp; </a:t>
            </a:r>
            <a:r>
              <a:rPr lang="en-IN" sz="1300" b="1" dirty="0" err="1"/>
              <a:t>Uvicorn</a:t>
            </a:r>
            <a:r>
              <a:rPr lang="en-IN" sz="1300" dirty="0"/>
              <a:t>: A high-performance web framework to serve real-time candidate search and ranking API endpoints.</a:t>
            </a:r>
          </a:p>
          <a:p>
            <a:pPr algn="just"/>
            <a:r>
              <a:rPr lang="en-IN" sz="1300" b="1" dirty="0"/>
              <a:t>FAISS</a:t>
            </a:r>
            <a:r>
              <a:rPr lang="en-IN" sz="1300" dirty="0"/>
              <a:t>: The Facebook AI Similarity Search library, used for lightning-fast vector search over the 100,000 candidate profiles.</a:t>
            </a:r>
          </a:p>
          <a:p>
            <a:pPr algn="just"/>
            <a:r>
              <a:rPr lang="en-IN" sz="1300" b="1" dirty="0"/>
              <a:t>Sentence-Transformers (all-MiniLM-L6-v2)</a:t>
            </a:r>
            <a:r>
              <a:rPr lang="en-IN" sz="1300" dirty="0"/>
              <a:t>: A highly optimized, lightweight text embedding model for semantic similarity representation.</a:t>
            </a:r>
          </a:p>
          <a:p>
            <a:pPr algn="just"/>
            <a:r>
              <a:rPr lang="en-IN" sz="1300" b="1" dirty="0" err="1"/>
              <a:t>Pytest</a:t>
            </a:r>
            <a:r>
              <a:rPr lang="en-IN" sz="1300" dirty="0"/>
              <a:t>: Professional testing framework utilized for pipeline and data quality validation.</a:t>
            </a:r>
          </a:p>
          <a:p>
            <a:pPr algn="just"/>
            <a:r>
              <a:rPr lang="en-IN" sz="1300" b="1" dirty="0"/>
              <a:t>HTML5 / CSS3 / Vanilla JS</a:t>
            </a:r>
            <a:r>
              <a:rPr lang="en-IN" sz="1300" dirty="0"/>
              <a:t>: A clean and responsive front-end dashboard with zero external library overhead to keep page load and rendering instant.</a:t>
            </a:r>
          </a:p>
          <a:p>
            <a:pPr marL="141922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</a:pPr>
            <a:endParaRPr sz="1365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499" y="1278500"/>
            <a:ext cx="8175600" cy="243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GitHub Repository: Clean, fully refactored, production-ready code with complete unit tests.</a:t>
            </a:r>
            <a:endParaRPr lang="en-GB" sz="1300" dirty="0">
              <a:solidFill>
                <a:srgbClr val="202729"/>
              </a:solidFill>
              <a:latin typeface="Manrope SemiBold" panose="020B0604020202020204" charset="0"/>
              <a:sym typeface="Manrope SemiBold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Output Data: submission.csv containing top 100 ranked candidates with deterministic scores and reasons.</a:t>
            </a:r>
            <a:endParaRPr lang="en-GB" sz="1300" dirty="0">
              <a:latin typeface="Manrope SemiBold" panose="020B060402020202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Web Video Demo: Recorded walkthrough of the interactive dashboard (</a:t>
            </a:r>
            <a:r>
              <a:rPr sz="1300" dirty="0" err="1">
                <a:latin typeface="Manrope SemiBold" panose="020B0604020202020204" charset="0"/>
              </a:rPr>
              <a:t>dashboard_success_flow.webp</a:t>
            </a:r>
            <a:r>
              <a:rPr sz="1300" dirty="0">
                <a:latin typeface="Manrope SemiBold" panose="020B0604020202020204" charset="0"/>
              </a:rPr>
              <a:t>).</a:t>
            </a:r>
            <a:endParaRPr lang="en-GB" sz="1300" dirty="0">
              <a:latin typeface="Manrope SemiBold" panose="020B060402020202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Font typeface="Arial" panose="020B0604020202020204" pitchFamily="34" charset="0"/>
              <a:buChar char="•"/>
              <a:defRPr>
                <a:solidFill/>
              </a:defRPr>
            </a:pPr>
            <a:r>
              <a:rPr sz="1300" dirty="0">
                <a:latin typeface="Manrope SemiBold" panose="020B0604020202020204" charset="0"/>
              </a:rPr>
              <a:t>Local Web URL: http://127.0.0.1:8000/ serving the live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1028</Words>
  <Application>Microsoft Office PowerPoint</Application>
  <PresentationFormat>On-screen Show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Manrope ExtraBold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zia bhombal</cp:lastModifiedBy>
  <cp:revision>3</cp:revision>
  <dcterms:modified xsi:type="dcterms:W3CDTF">2026-06-29T05:33:01Z</dcterms:modified>
</cp:coreProperties>
</file>