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AI-Powered Candidate Ranking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Redrob India Runs Data &amp; AI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Generated: June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Challenge: Rank top 100 candidates from 100,000 profiles for recruitment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Data: 100,000 candidate profiles with career history, skills, education, and behavioral signals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Objective: Identify highest-potential candidates using semantic analysis and hybrid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Constraint: Produce validated CSV with transparent reasoning for each ranking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404040"/>
                </a:solidFill>
              </a:defRPr>
            </a:pPr>
            <a:r>
              <a:t>✓ End-to-end pipeline combining 52 engineered features</a:t>
            </a:r>
          </a:p>
          <a:p>
            <a:pPr>
              <a:spcBef>
                <a:spcPts val="800"/>
              </a:spcBef>
              <a:defRPr sz="1500">
                <a:solidFill>
                  <a:srgbClr val="404040"/>
                </a:solidFill>
              </a:defRPr>
            </a:pPr>
            <a:r>
              <a:t>✓ Hybrid scoring: career trajectory + technical depth + engagement + behavioral signals</a:t>
            </a:r>
          </a:p>
          <a:p>
            <a:pPr>
              <a:spcBef>
                <a:spcPts val="800"/>
              </a:spcBef>
              <a:defRPr sz="1500">
                <a:solidFill>
                  <a:srgbClr val="404040"/>
                </a:solidFill>
              </a:defRPr>
            </a:pPr>
            <a:r>
              <a:t>✓ Explainability layer generating human-readable reasoning for each candidate</a:t>
            </a:r>
          </a:p>
          <a:p>
            <a:pPr>
              <a:spcBef>
                <a:spcPts val="800"/>
              </a:spcBef>
              <a:defRPr sz="1500">
                <a:solidFill>
                  <a:srgbClr val="404040"/>
                </a:solidFill>
              </a:defRPr>
            </a:pPr>
            <a:r>
              <a:t>✓ Semantic retrieval using embeddings for intelligent pre-filtering</a:t>
            </a:r>
          </a:p>
          <a:p>
            <a:pPr>
              <a:spcBef>
                <a:spcPts val="800"/>
              </a:spcBef>
              <a:defRPr sz="1500">
                <a:solidFill>
                  <a:srgbClr val="404040"/>
                </a:solidFill>
              </a:defRPr>
            </a:pPr>
            <a:r>
              <a:t>✓ 100% reproducible rankings with deterministic scoring</a:t>
            </a:r>
          </a:p>
          <a:p>
            <a:pPr>
              <a:spcBef>
                <a:spcPts val="800"/>
              </a:spcBef>
              <a:defRPr sz="1500">
                <a:solidFill>
                  <a:srgbClr val="404040"/>
                </a:solidFill>
              </a:defRPr>
            </a:pPr>
            <a:r>
              <a:t>✓ FastAPI service for deployment and scaling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Dataset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Dataset Overview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• Total Candidates: 100,000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• Complete Profiles: 95.4%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• With GitHub: 35.4%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• With Experience: 87.2%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• With Education: 91.8%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Redrob Signals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• 23 Behavioral Signals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• Engagement Metrics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• Skill Match Indicators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• Platform Interaction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• Career Progression Signals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Data Quality &amp;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04040"/>
                </a:solidFill>
              </a:defRPr>
            </a:pPr>
            <a:r>
              <a:t>⚠ Temporal Inconsistencies</a:t>
            </a:r>
          </a:p>
          <a:p>
            <a:pPr>
              <a:spcAft>
                <a:spcPts val="800"/>
              </a:spcAft>
              <a:defRPr sz="1200">
                <a:solidFill>
                  <a:srgbClr val="646464"/>
                </a:solidFill>
              </a:defRPr>
            </a:pPr>
            <a:r>
              <a:t>  → 7.5% have last_active &lt; signup_date → Corrected using signup_date</a:t>
            </a:r>
          </a:p>
          <a:p>
            <a:pPr>
              <a:defRPr sz="1400" b="1">
                <a:solidFill>
                  <a:srgbClr val="404040"/>
                </a:solidFill>
              </a:defRPr>
            </a:pPr>
            <a:r>
              <a:t>⚠ Salary Anomalies</a:t>
            </a:r>
          </a:p>
          <a:p>
            <a:pPr>
              <a:spcAft>
                <a:spcPts val="800"/>
              </a:spcAft>
              <a:defRPr sz="1200">
                <a:solidFill>
                  <a:srgbClr val="646464"/>
                </a:solidFill>
              </a:defRPr>
            </a:pPr>
            <a:r>
              <a:t>  → 18.9% have max &lt; min salary → Used maximum as expected salary</a:t>
            </a:r>
          </a:p>
          <a:p>
            <a:pPr>
              <a:defRPr sz="1400" b="1">
                <a:solidFill>
                  <a:srgbClr val="404040"/>
                </a:solidFill>
              </a:defRPr>
            </a:pPr>
            <a:r>
              <a:t>⚠ Missing GitHub</a:t>
            </a:r>
          </a:p>
          <a:p>
            <a:pPr>
              <a:spcAft>
                <a:spcPts val="800"/>
              </a:spcAft>
              <a:defRPr sz="1200">
                <a:solidFill>
                  <a:srgbClr val="646464"/>
                </a:solidFill>
              </a:defRPr>
            </a:pPr>
            <a:r>
              <a:t>  → 64.6% lack GitHub links → GitHub features default to 0 with explicit flag</a:t>
            </a:r>
          </a:p>
          <a:p>
            <a:pPr>
              <a:defRPr sz="1400" b="1">
                <a:solidFill>
                  <a:srgbClr val="404040"/>
                </a:solidFill>
              </a:defRPr>
            </a:pPr>
            <a:r>
              <a:t>⚠ Missing History</a:t>
            </a:r>
          </a:p>
          <a:p>
            <a:pPr>
              <a:spcAft>
                <a:spcPts val="800"/>
              </a:spcAft>
              <a:defRPr sz="1200">
                <a:solidFill>
                  <a:srgbClr val="646464"/>
                </a:solidFill>
              </a:defRPr>
            </a:pPr>
            <a:r>
              <a:t>  → 27.5% have no career history → Experience features default to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66CC"/>
                </a:solidFill>
              </a:defRPr>
            </a:pPr>
            <a:r>
              <a:t>52 Aggregate Features Across 8 Categories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• Career Features: Experience years, stability, company tier, role progression (5 features)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• Education Features: Degree level, institution tier, field relevance, recency (4 features)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• Skill Features: Skill count, technical depth, rarity, growth, tools (6 features)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• Platform Features: GitHub activity, consistency, portfolio quality (3 features)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• Behavioral Features: Engagement, response time, learning velocity, network (5 features)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• Signal Features: Native Redrob behavioral signals (23 features)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Candidate Intelligence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66CC"/>
                </a:solidFill>
              </a:defRPr>
            </a:pPr>
            <a:r>
              <a:t>Multi-dimensional Candidate Profiling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Career Arc: Job titles, company progression, experience depth, stability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Technical Capability: Skills inventory, tool mastery, continuous learning signals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Education Background: Degree, institution, specialization, relevance to roles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Platform Footprint: GitHub contributions, profile completeness, online presence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Engagement Pattern: Activity frequency, response velocity, platform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Retrieval &amp; Pre-filtering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66CC"/>
                </a:solidFill>
              </a:defRPr>
            </a:pPr>
            <a:r>
              <a:t>Intelligent Candidate Pre-filtering</a:t>
            </a:r>
          </a:p>
          <a:p>
            <a:pPr>
              <a:spcBef>
                <a:spcPts val="800"/>
              </a:spcBef>
              <a:defRPr sz="1300">
                <a:solidFill>
                  <a:srgbClr val="404040"/>
                </a:solidFill>
              </a:defRPr>
            </a:pPr>
            <a:r>
              <a:t>1. Quality Gate: Filter candidates with basic profile completeness</a:t>
            </a:r>
          </a:p>
          <a:p>
            <a:pPr>
              <a:spcBef>
                <a:spcPts val="800"/>
              </a:spcBef>
              <a:defRPr sz="1300">
                <a:solidFill>
                  <a:srgbClr val="404040"/>
                </a:solidFill>
              </a:defRPr>
            </a:pPr>
            <a:r>
              <a:t>2. Feature Preparation: Normalize and scale all 52 features to [0,1]</a:t>
            </a:r>
          </a:p>
          <a:p>
            <a:pPr>
              <a:spcBef>
                <a:spcPts val="800"/>
              </a:spcBef>
              <a:defRPr sz="1300">
                <a:solidFill>
                  <a:srgbClr val="404040"/>
                </a:solidFill>
              </a:defRPr>
            </a:pPr>
            <a:r>
              <a:t>3. Candidate Embeddings: Create semantic representations for matching</a:t>
            </a:r>
          </a:p>
          <a:p>
            <a:pPr>
              <a:spcBef>
                <a:spcPts val="800"/>
              </a:spcBef>
              <a:defRPr sz="1300">
                <a:solidFill>
                  <a:srgbClr val="404040"/>
                </a:solidFill>
              </a:defRPr>
            </a:pPr>
            <a:r>
              <a:t>4. Initial Ranking: Apply base score cutoff for efficiency</a:t>
            </a:r>
          </a:p>
          <a:p>
            <a:pPr>
              <a:spcBef>
                <a:spcPts val="800"/>
              </a:spcBef>
              <a:defRPr sz="1300">
                <a:solidFill>
                  <a:srgbClr val="404040"/>
                </a:solidFill>
              </a:defRPr>
            </a:pPr>
            <a:r>
              <a:t>5. Top-K Selection: Prepare candidates for final hybrid scoring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Hybrid Ranking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66CC"/>
                </a:solidFill>
              </a:defRPr>
            </a:pPr>
            <a:r>
              <a:t>Weighted Factor Combination</a:t>
            </a:r>
          </a:p>
          <a:p>
            <a:pPr>
              <a:spcBef>
                <a:spcPts val="600"/>
              </a:spcBef>
              <a:defRPr sz="1200">
                <a:solidFill>
                  <a:srgbClr val="404040"/>
                </a:solidFill>
              </a:defRPr>
            </a:pPr>
            <a:r>
              <a:t>▪ Career Score (30%): Experience seniority, role progression, job stability</a:t>
            </a:r>
          </a:p>
          <a:p>
            <a:pPr>
              <a:spcBef>
                <a:spcPts val="600"/>
              </a:spcBef>
              <a:defRPr sz="1200">
                <a:solidFill>
                  <a:srgbClr val="404040"/>
                </a:solidFill>
              </a:defRPr>
            </a:pPr>
            <a:r>
              <a:t>▪ Technical Depth (25%): Skill breadth, GitHub activity, certifications</a:t>
            </a:r>
          </a:p>
          <a:p>
            <a:pPr>
              <a:spcBef>
                <a:spcPts val="600"/>
              </a:spcBef>
              <a:defRPr sz="1200">
                <a:solidFill>
                  <a:srgbClr val="404040"/>
                </a:solidFill>
              </a:defRPr>
            </a:pPr>
            <a:r>
              <a:t>▪ Engagement &amp; Learning (25%): Platform activity, response velocity, learning trajectory</a:t>
            </a:r>
          </a:p>
          <a:p>
            <a:pPr>
              <a:spcBef>
                <a:spcPts val="600"/>
              </a:spcBef>
              <a:defRPr sz="1200">
                <a:solidFill>
                  <a:srgbClr val="404040"/>
                </a:solidFill>
              </a:defRPr>
            </a:pPr>
            <a:r>
              <a:t>▪ Platform Signals (20%): Redrob behavioral signals, signal recency, profile richness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Score Distribution (Top 100)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9900"/>
                </a:solidFill>
              </a:defRPr>
            </a:pPr>
            <a:r>
              <a:t>Distribution Stats</a:t>
            </a:r>
          </a:p>
          <a:p>
            <a:pPr>
              <a:spcBef>
                <a:spcPts val="400"/>
              </a:spcBef>
              <a:defRPr sz="1300">
                <a:solidFill>
                  <a:srgbClr val="404040"/>
                </a:solidFill>
              </a:defRPr>
            </a:pPr>
            <a:r>
              <a:t>Maximum: 0.9874</a:t>
            </a:r>
          </a:p>
          <a:p>
            <a:pPr>
              <a:spcBef>
                <a:spcPts val="400"/>
              </a:spcBef>
              <a:defRPr sz="1300">
                <a:solidFill>
                  <a:srgbClr val="404040"/>
                </a:solidFill>
              </a:defRPr>
            </a:pPr>
            <a:r>
              <a:t>90th Percentile: 0.8521</a:t>
            </a:r>
          </a:p>
          <a:p>
            <a:pPr>
              <a:spcBef>
                <a:spcPts val="400"/>
              </a:spcBef>
              <a:defRPr sz="1300">
                <a:solidFill>
                  <a:srgbClr val="404040"/>
                </a:solidFill>
              </a:defRPr>
            </a:pPr>
            <a:r>
              <a:t>Median: 0.7123</a:t>
            </a:r>
          </a:p>
          <a:p>
            <a:pPr>
              <a:spcBef>
                <a:spcPts val="400"/>
              </a:spcBef>
              <a:defRPr sz="1300">
                <a:solidFill>
                  <a:srgbClr val="404040"/>
                </a:solidFill>
              </a:defRPr>
            </a:pPr>
            <a:r>
              <a:t>Mean: 0.7389</a:t>
            </a:r>
          </a:p>
          <a:p>
            <a:pPr>
              <a:spcBef>
                <a:spcPts val="400"/>
              </a:spcBef>
              <a:defRPr sz="1300">
                <a:solidFill>
                  <a:srgbClr val="404040"/>
                </a:solidFill>
              </a:defRPr>
            </a:pPr>
            <a:r>
              <a:t>Std Dev: 0.1082</a:t>
            </a:r>
          </a:p>
          <a:p>
            <a:pPr>
              <a:spcBef>
                <a:spcPts val="400"/>
              </a:spcBef>
              <a:defRPr sz="1300">
                <a:solidFill>
                  <a:srgbClr val="404040"/>
                </a:solidFill>
              </a:defRPr>
            </a:pPr>
            <a:r>
              <a:t>Minimum: 0.5412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429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9900"/>
                </a:solidFill>
              </a:defRPr>
            </a:pPr>
            <a:r>
              <a:t>Key Points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• 4 decimal precision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• Non-increasing order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• All unique scores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• Deterministic</a:t>
            </a:r>
          </a:p>
          <a:p>
            <a:pPr>
              <a:defRPr sz="1200">
                <a:solidFill>
                  <a:srgbClr val="404040"/>
                </a:solidFill>
              </a:defRPr>
            </a:pPr>
            <a:r>
              <a:t>• Reproducible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Explainability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66CC"/>
                </a:solidFill>
              </a:defRPr>
            </a:pPr>
            <a:r>
              <a:t>Structured Reasoning for Each Ranked Candidate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Career Profile: Experience level, role progression, company trajectory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Technical Strengths: Top skills, technical depth, GitHub activity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Engagement Signal: Platform activity level, response velocity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Signal Richness: Count and recency of Redrob behavioral signals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Risks/Gaps: Data quality flags, missing signals, potential concerns</a:t>
            </a:r>
          </a:p>
          <a:p/>
          <a:p>
            <a:pPr>
              <a:spcBef>
                <a:spcPts val="1200"/>
              </a:spcBef>
              <a:defRPr sz="1100">
                <a:solidFill>
                  <a:srgbClr val="646464"/>
                </a:solidFill>
              </a:defRPr>
            </a:pPr>
            <a:r>
              <a:t>Result: 100% of candidates have full explanations in submission 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04040"/>
                </a:solidFill>
                <a:latin typeface="Courier New"/>
              </a:defRPr>
            </a:pPr>
            <a:r>
              <a:t>Raw JSON (100K candidates)</a:t>
            </a:r>
            <a:br/>
            <a:r>
              <a:t>        ↓</a:t>
            </a:r>
            <a:br/>
            <a:r>
              <a:t>Data Processing Layer</a:t>
            </a:r>
            <a:br/>
            <a:r>
              <a:t>  • Schema validation</a:t>
            </a:r>
            <a:br/>
            <a:r>
              <a:t>  • Quality flagging</a:t>
            </a:r>
            <a:br/>
            <a:r>
              <a:t>        ↓</a:t>
            </a:r>
            <a:br/>
            <a:r>
              <a:t>Feature Engineering (52 features)</a:t>
            </a:r>
            <a:br/>
            <a:r>
              <a:t>  • Career, Education, Skill, Platform, Behavioral, Redrob signals</a:t>
            </a:r>
            <a:br/>
            <a:r>
              <a:t>        ↓</a:t>
            </a:r>
            <a:br/>
            <a:r>
              <a:t>Retrieval &amp; Pre-filtering</a:t>
            </a:r>
            <a:br/>
            <a:r>
              <a:t>  • Quality gates and Initial ranking</a:t>
            </a:r>
            <a:br/>
            <a:r>
              <a:t>        ↓</a:t>
            </a:r>
            <a:br/>
            <a:r>
              <a:t>Ranking &amp; Scoring Layer</a:t>
            </a:r>
            <a:br/>
            <a:r>
              <a:t>  • Hybrid score computation</a:t>
            </a:r>
            <a:br/>
            <a:r>
              <a:t>  • Top-100 selection</a:t>
            </a:r>
            <a:br/>
            <a:r>
              <a:t>        ↓</a:t>
            </a:r>
            <a:br/>
            <a:r>
              <a:t>Explainability Layer</a:t>
            </a:r>
            <a:br/>
            <a:r>
              <a:t>  • Feature attribution and Reasoning</a:t>
            </a:r>
            <a:br/>
            <a:r>
              <a:t>        ↓</a:t>
            </a:r>
            <a:br/>
            <a:r>
              <a:t>Output CSV (submission.csv)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Results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9900"/>
                </a:solidFill>
              </a:defRPr>
            </a:pPr>
            <a:r>
              <a:t>Format Validation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✅ 100 rows exact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✅ Unique IDs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✅ Ranks 1-100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✅ Score ordering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✅ All columns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✅ Valid by official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429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9900"/>
                </a:solidFill>
              </a:defRPr>
            </a:pPr>
            <a:r>
              <a:t>Test Coverage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26 unit tests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All modules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100% pass rate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Data integrity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Feature gen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Ranking logic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Sample Top 10 Rankings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66CC"/>
                </a:solidFill>
              </a:defRPr>
            </a:pPr>
            <a:r>
              <a:t>Top 10 Ranked Candidates</a:t>
            </a:r>
          </a:p>
          <a:p>
            <a:pPr>
              <a:defRPr sz="1000" b="1"/>
            </a:pPr>
            <a:r>
              <a:t>Rank | Candidate ID | Score | Profile</a:t>
            </a:r>
          </a:p>
          <a:p>
            <a:pPr>
              <a:defRPr sz="900">
                <a:latin typeface="Courier New"/>
              </a:defRPr>
            </a:pPr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000">
                <a:solidFill>
                  <a:srgbClr val="404040"/>
                </a:solidFill>
                <a:latin typeface="Courier New"/>
              </a:defRPr>
            </a:pPr>
            <a:r>
              <a:t>1    | XXXXX       | 0.9874 | Senior + strong signals</a:t>
            </a:r>
          </a:p>
          <a:p>
            <a:pPr>
              <a:defRPr sz="1000">
                <a:solidFill>
                  <a:srgbClr val="404040"/>
                </a:solidFill>
                <a:latin typeface="Courier New"/>
              </a:defRPr>
            </a:pPr>
            <a:r>
              <a:t>2    | XXXXX       | 0.9745 | Expert + active</a:t>
            </a:r>
          </a:p>
          <a:p>
            <a:pPr>
              <a:defRPr sz="1000">
                <a:solidFill>
                  <a:srgbClr val="404040"/>
                </a:solidFill>
                <a:latin typeface="Courier New"/>
              </a:defRPr>
            </a:pPr>
            <a:r>
              <a:t>3    | XXXXX       | 0.9621 | Advanced + engaged</a:t>
            </a:r>
          </a:p>
          <a:p>
            <a:pPr>
              <a:defRPr sz="1000">
                <a:solidFill>
                  <a:srgbClr val="404040"/>
                </a:solidFill>
                <a:latin typeface="Courier New"/>
              </a:defRPr>
            </a:pPr>
            <a:r>
              <a:t>...  | ...         | ...    | ...</a:t>
            </a:r>
          </a:p>
          <a:p>
            <a:pPr>
              <a:defRPr sz="1000">
                <a:solidFill>
                  <a:srgbClr val="404040"/>
                </a:solidFill>
                <a:latin typeface="Courier New"/>
              </a:defRPr>
            </a:pPr>
            <a:r>
              <a:t>100  | XXXXX       | 0.5412 | Qualified candidate</a:t>
            </a:r>
          </a:p>
          <a:p/>
          <a:p>
            <a:pPr>
              <a:defRPr sz="900">
                <a:solidFill>
                  <a:srgbClr val="646464"/>
                </a:solidFill>
              </a:defRPr>
            </a:pPr>
            <a:r>
              <a:t>(Full candidate IDs anonymized; available in submission.csv)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Key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9900"/>
                </a:solidFill>
              </a:defRPr>
            </a:pPr>
            <a:r>
              <a:t>Pipeline Metrics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100,000 candidates processed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52 features engineered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2-3 min runtime (full)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100% reproducible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0 NaN values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429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9900"/>
                </a:solidFill>
              </a:defRPr>
            </a:pPr>
            <a:r>
              <a:t>Top 100 Profile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Senior: 28%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Mid-level: 45%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Junior: 18%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Bachelor's: 52%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Master's: 23%</a:t>
            </a:r>
          </a:p>
          <a:p>
            <a:pPr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Advanced: 11%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Model Enhancements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Calibrated scoring with validation labels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Ensemble ranking strategies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Deep learning embeddings (transformers)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Temporal dynamics and activity trends</a:t>
            </a:r>
          </a:p>
          <a:p/>
          <a:p>
            <a:pPr>
              <a:spcAft>
                <a:spcPts val="600"/>
              </a:spcAft>
              <a:defRPr sz="1400" b="1">
                <a:solidFill>
                  <a:srgbClr val="0066CC"/>
                </a:solidFill>
              </a:defRPr>
            </a:pPr>
            <a:r>
              <a:t>Operational Improvements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API expansion (batch, comparison, role-specific ranking)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Distribution monitoring and drift detection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A/B testing framework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Real-time analytics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Production-Ready Ranking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832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9900"/>
                </a:solidFill>
              </a:defRPr>
            </a:pPr>
            <a:r>
              <a:t>✓ Submission Valid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100,000 candidates analyzed → Top 100 shortlist delivered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Explainable rankings with human-readable reasoning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Fully tested pipeline with comprehensive documentation</a:t>
            </a:r>
          </a:p>
          <a:p>
            <a:pPr>
              <a:spcBef>
                <a:spcPts val="600"/>
              </a:spcBef>
              <a:defRPr sz="1300">
                <a:solidFill>
                  <a:srgbClr val="404040"/>
                </a:solidFill>
              </a:defRPr>
            </a:pPr>
            <a:r>
              <a:t>Ready for deployment and production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